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A716-AF47-C2FA-FD07-0EDC04BD5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67A9A-248B-C437-7F50-6E877018F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35914-2FC8-8969-BCF1-242142C2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BE447-B30A-ACF5-F4ED-9E7F159F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3CCFA-AE66-609E-2ABB-FE8AFEAB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68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A9C9-608A-4DCE-382B-62D785DC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8A79B-4C49-A9A9-A063-352464E0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7D4C4-E5DD-4AC3-6C64-9FFB1C43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21259-96E2-6091-E027-A6797B6D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8E984-77ED-7169-02AC-ABB82591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40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3F0D-61F9-ACB6-C80A-822C1B3F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532FF-A0A8-E619-A451-2EA4564F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FE88C-E8AB-4207-324C-1DCF880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7DB99-2513-694C-EED4-E8AA2222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D9BAE-64FA-C765-24E6-47DE3554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47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B96C-DDDE-66B2-1163-84354440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9395B-235E-5A43-5A11-8044A2560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5683E-3A94-94BC-0FEA-8C9128BE0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58F32-F0C6-15A5-8FDA-BB176E5C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AB32E-328D-2088-BFCF-3BB6CA27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EDB26-BEFE-F002-D2CB-FEFD14AA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99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D389-27CA-C738-CA94-324B7AEC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8D77C-1BCF-2ABF-E8D1-D8A9566F1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5ECA7-2876-E158-6F02-FF93F6F70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31BCD-7BD6-A0D8-D01D-FDCDB217B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4D4F4-8DA7-AE2A-FA52-0E482D962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8E65B6-ABFE-30C5-391C-913F321F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E7135-604D-9E3A-8249-8EB0BC88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D91C7-2EF9-A4E9-4C05-5AB9944C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908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9B84-BD05-40AF-64C4-4562AB27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816E2-6070-7C84-01CB-A1087FEB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E7E11-D4ED-F022-BC85-2DC69D32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B285E-5223-E37A-AAEC-23115BD9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01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37A44-B40C-A2B6-A03A-F3D73FBF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0CC84-8235-6B24-F905-EF4507E0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38D50-12B2-8C9E-B04A-3DCF7609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7173-37F7-727E-60DC-078F7BB3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53DF-FBCB-9A54-3302-7304AFC46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4FBCE-CFFB-B31D-5A16-26A85783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29134-6B7C-35AA-DA7B-F130FE7C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8BD7B-5E3A-0D9E-F369-72BC36F4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355BD-A72E-1F53-6B6C-435EC930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19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F185-9D4B-2F24-93AD-8037A7A2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7DDD0-F3F2-1788-735B-F79E74CAC41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600B-3677-CD96-8B1B-5F067ED9C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94EAC-ECD6-A93A-257F-CAE20B59E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4DC63-81F6-BE63-1EC1-4A784F72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801B1-8979-711E-A851-7C8781AA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89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673A-BDF7-3D10-D71D-41B8E54F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58A29-9C19-D9BF-7EB5-389E6E3DE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428A3-1A36-50D4-9183-FF33005A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5991-9164-4204-18AA-2CF92167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EA168-76E2-51D4-ACF4-D9BF112E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74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A7160-42BA-9A5C-6B27-9F5E0C6ED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D1CB5-6EC7-2AE4-01DC-F72F0E309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9C2A-0CAF-BC29-3CAC-5EC7EADF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9452-7F1C-E361-E602-4BDAC072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5DC88-23F3-5305-8FA4-F7B7031D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92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A40A8-5E22-DD48-49E7-A69718C5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AC31D-CE02-FF1F-9565-0C6B4818D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E3CA-DA74-6D9F-F304-CCEE72C30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3274D-7592-46EF-B47D-2BF20F65227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DAA12-FB79-A16D-2F34-47500B43D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EE129-93D1-9725-E304-9199B1097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90927-FE41-4B5E-A83C-A71FA0A83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4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2A11B7-6E16-728C-5A3B-7A6518C2C655}"/>
              </a:ext>
            </a:extLst>
          </p:cNvPr>
          <p:cNvSpPr/>
          <p:nvPr/>
        </p:nvSpPr>
        <p:spPr>
          <a:xfrm>
            <a:off x="508000" y="317500"/>
            <a:ext cx="4318000" cy="355600"/>
          </a:xfrm>
          <a:prstGeom prst="roundRect">
            <a:avLst/>
          </a:prstGeom>
          <a:solidFill>
            <a:srgbClr val="0B1A30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IBM HACKATHON 2026 | HEALTHCARE TRACK</a:t>
            </a:r>
            <a:endParaRPr lang="en-IN" sz="10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7E4E52-433C-A8D1-FC62-00B4ED81A4E4}"/>
              </a:ext>
            </a:extLst>
          </p:cNvPr>
          <p:cNvSpPr/>
          <p:nvPr/>
        </p:nvSpPr>
        <p:spPr>
          <a:xfrm>
            <a:off x="508000" y="3937000"/>
            <a:ext cx="11176000" cy="2540000"/>
          </a:xfrm>
          <a:prstGeom prst="roundRect">
            <a:avLst/>
          </a:prstGeom>
          <a:solidFill>
            <a:srgbClr val="071022">
              <a:alpha val="85000"/>
            </a:srgbClr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19BAC-4049-6581-1FD4-7CEF0EFC7E35}"/>
              </a:ext>
            </a:extLst>
          </p:cNvPr>
          <p:cNvSpPr txBox="1"/>
          <p:nvPr/>
        </p:nvSpPr>
        <p:spPr>
          <a:xfrm>
            <a:off x="825500" y="4127500"/>
            <a:ext cx="6604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500" b="1">
                <a:solidFill>
                  <a:srgbClr val="FFFFFF"/>
                </a:solidFill>
                <a:latin typeface="Segoe UI Semibold" panose="020B0702040204020203" pitchFamily="34" charset="0"/>
              </a:rPr>
              <a:t>Medical Report Summarisation Assistant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D1030-1BD2-12FA-E2E1-D8FDD9116FF1}"/>
              </a:ext>
            </a:extLst>
          </p:cNvPr>
          <p:cNvSpPr txBox="1"/>
          <p:nvPr/>
        </p:nvSpPr>
        <p:spPr>
          <a:xfrm>
            <a:off x="825500" y="5207000"/>
            <a:ext cx="6604000" cy="2846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50">
                <a:solidFill>
                  <a:srgbClr val="0EA5E9"/>
                </a:solidFill>
                <a:latin typeface="Segoe UI" panose="020B0502040204020203" pitchFamily="34" charset="0"/>
              </a:rPr>
              <a:t>Context-Aware Clinical Synthesis &amp; Longitudinal Biomarker Intelligence</a:t>
            </a:r>
            <a:endParaRPr lang="en-IN" sz="1250">
              <a:solidFill>
                <a:srgbClr val="0EA5E9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F013F-B495-3CC1-9ED9-8741AFB93CED}"/>
              </a:ext>
            </a:extLst>
          </p:cNvPr>
          <p:cNvSpPr txBox="1"/>
          <p:nvPr/>
        </p:nvSpPr>
        <p:spPr>
          <a:xfrm>
            <a:off x="7620000" y="4127500"/>
            <a:ext cx="3810000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CBD5E1"/>
                </a:solidFill>
                <a:latin typeface="Segoe UI" panose="020B0502040204020203" pitchFamily="34" charset="0"/>
              </a:rPr>
              <a:t>ACADEMIC INSTITUTION</a:t>
            </a:r>
          </a:p>
          <a:p>
            <a:r>
              <a:rPr lang="en-US" sz="950">
                <a:solidFill>
                  <a:srgbClr val="CBD5E1"/>
                </a:solidFill>
                <a:latin typeface="Segoe UI" panose="020B0502040204020203" pitchFamily="34" charset="0"/>
              </a:rPr>
              <a:t>Vishwakarma Government Engineering College (VGEC), Chandkheda</a:t>
            </a:r>
          </a:p>
          <a:p>
            <a:endParaRPr lang="en-US" sz="950">
              <a:solidFill>
                <a:srgbClr val="CBD5E1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CBD5E1"/>
                </a:solidFill>
                <a:latin typeface="Segoe UI" panose="020B0502040204020203" pitchFamily="34" charset="0"/>
              </a:rPr>
              <a:t>DEPARTMENT &amp; TEAM</a:t>
            </a:r>
          </a:p>
          <a:p>
            <a:r>
              <a:rPr lang="en-US" sz="950">
                <a:solidFill>
                  <a:srgbClr val="CBD5E1"/>
                </a:solidFill>
                <a:latin typeface="Segoe UI" panose="020B0502040204020203" pitchFamily="34" charset="0"/>
              </a:rPr>
              <a:t>Computer Engineering Department</a:t>
            </a:r>
          </a:p>
          <a:p>
            <a:r>
              <a:rPr lang="en-US" sz="950">
                <a:solidFill>
                  <a:srgbClr val="CBD5E1"/>
                </a:solidFill>
                <a:latin typeface="Segoe UI" panose="020B0502040204020203" pitchFamily="34" charset="0"/>
              </a:rPr>
              <a:t>Engineered by 6-Member Team 01</a:t>
            </a:r>
            <a:endParaRPr lang="en-IN" sz="95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98C22F-6C9C-3915-857F-A6815C994A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-3135" r="-6880" b="3497"/>
          <a:stretch>
            <a:fillRect/>
          </a:stretch>
        </p:blipFill>
        <p:spPr>
          <a:xfrm>
            <a:off x="417250" y="673100"/>
            <a:ext cx="11774749" cy="315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2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 thruBlk="1"/>
      </p:transition>
    </mc:Choice>
    <mc:Fallback xmlns=""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B3110B-D95B-E59B-319A-B8AA8341A0E9}"/>
              </a:ext>
            </a:extLst>
          </p:cNvPr>
          <p:cNvSpPr txBox="1"/>
          <p:nvPr/>
        </p:nvSpPr>
        <p:spPr>
          <a:xfrm>
            <a:off x="635000" y="2540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EA5E9"/>
                </a:solidFill>
                <a:latin typeface="Segoe UI" panose="020B0502040204020203" pitchFamily="34" charset="0"/>
              </a:rPr>
              <a:t>ENGINEERING EXCELLENCE | TEAM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178E8-0EA2-7EBE-4F55-57F8AE09D0A9}"/>
              </a:ext>
            </a:extLst>
          </p:cNvPr>
          <p:cNvSpPr txBox="1"/>
          <p:nvPr/>
        </p:nvSpPr>
        <p:spPr>
          <a:xfrm>
            <a:off x="635000" y="533400"/>
            <a:ext cx="1092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Segoe UI Semibold" panose="020B0702040204020203" pitchFamily="34" charset="0"/>
              </a:rPr>
              <a:t>Medical Report Summarisation Assistant Core Developers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C70644-648A-43FE-AAD0-E019C49159C0}"/>
              </a:ext>
            </a:extLst>
          </p:cNvPr>
          <p:cNvCxnSpPr/>
          <p:nvPr/>
        </p:nvCxnSpPr>
        <p:spPr>
          <a:xfrm>
            <a:off x="635000" y="1168400"/>
            <a:ext cx="10922000" cy="0"/>
          </a:xfrm>
          <a:prstGeom prst="line">
            <a:avLst/>
          </a:prstGeom>
          <a:ln w="19050" cap="flat" cmpd="sng" algn="ctr">
            <a:solidFill>
              <a:srgbClr val="38BDF8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BA1BD4-D3F7-A38F-0996-DAFFE884F039}"/>
              </a:ext>
            </a:extLst>
          </p:cNvPr>
          <p:cNvGrpSpPr/>
          <p:nvPr/>
        </p:nvGrpSpPr>
        <p:grpSpPr>
          <a:xfrm>
            <a:off x="635000" y="1422400"/>
            <a:ext cx="3429000" cy="2286000"/>
            <a:chOff x="635000" y="1422400"/>
            <a:chExt cx="3429000" cy="2286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1DF90D0-4F21-2345-F4D9-3182CDD3289D}"/>
                </a:ext>
              </a:extLst>
            </p:cNvPr>
            <p:cNvSpPr/>
            <p:nvPr/>
          </p:nvSpPr>
          <p:spPr>
            <a:xfrm>
              <a:off x="635000" y="1422400"/>
              <a:ext cx="3429000" cy="2286000"/>
            </a:xfrm>
            <a:prstGeom prst="roundRect">
              <a:avLst/>
            </a:prstGeom>
            <a:solidFill>
              <a:srgbClr val="0B172C"/>
            </a:solidFill>
            <a:ln w="15875">
              <a:solidFill>
                <a:srgbClr val="38BD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21FA8A8-4085-DB76-8762-B467A82B36CA}"/>
                </a:ext>
              </a:extLst>
            </p:cNvPr>
            <p:cNvSpPr/>
            <p:nvPr/>
          </p:nvSpPr>
          <p:spPr>
            <a:xfrm>
              <a:off x="825500" y="1600200"/>
              <a:ext cx="482600" cy="279400"/>
            </a:xfrm>
            <a:prstGeom prst="roundRect">
              <a:avLst/>
            </a:prstGeom>
            <a:solidFill>
              <a:srgbClr val="0284C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rgbClr val="FFFFFF"/>
                  </a:solidFill>
                  <a:latin typeface="Segoe UI" panose="020B0502040204020203" pitchFamily="34" charset="0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BA4E56-E3B3-FAA2-074D-93B6535DB804}"/>
                </a:ext>
              </a:extLst>
            </p:cNvPr>
            <p:cNvSpPr txBox="1"/>
            <p:nvPr/>
          </p:nvSpPr>
          <p:spPr>
            <a:xfrm>
              <a:off x="825500" y="1981200"/>
              <a:ext cx="3048000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sz="12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LASHKARI DENISH BHARAT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F41301-80E6-7757-E954-9CBCD232EE30}"/>
                </a:ext>
              </a:extLst>
            </p:cNvPr>
            <p:cNvCxnSpPr/>
            <p:nvPr/>
          </p:nvCxnSpPr>
          <p:spPr>
            <a:xfrm>
              <a:off x="825500" y="2717800"/>
              <a:ext cx="3048000" cy="0"/>
            </a:xfrm>
            <a:prstGeom prst="line">
              <a:avLst/>
            </a:prstGeom>
            <a:ln w="19050" cap="flat" cmpd="sng" algn="ctr">
              <a:solidFill>
                <a:srgbClr val="FFFFFF">
                  <a:alpha val="1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CA08CB-F55E-65C9-64FB-EC906D617000}"/>
                </a:ext>
              </a:extLst>
            </p:cNvPr>
            <p:cNvSpPr txBox="1"/>
            <p:nvPr/>
          </p:nvSpPr>
          <p:spPr>
            <a:xfrm>
              <a:off x="825500" y="2819400"/>
              <a:ext cx="3048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Enrollment: 250170107069</a:t>
              </a:r>
            </a:p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Branch: COMPUTER ENGG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FDC3D0-F936-45D9-92C8-910845108AA7}"/>
              </a:ext>
            </a:extLst>
          </p:cNvPr>
          <p:cNvGrpSpPr/>
          <p:nvPr/>
        </p:nvGrpSpPr>
        <p:grpSpPr>
          <a:xfrm>
            <a:off x="4381500" y="1422400"/>
            <a:ext cx="3429000" cy="2286000"/>
            <a:chOff x="4381500" y="1422400"/>
            <a:chExt cx="3429000" cy="22860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5860DA5-33F5-4A03-395E-AB911CE47E75}"/>
                </a:ext>
              </a:extLst>
            </p:cNvPr>
            <p:cNvSpPr/>
            <p:nvPr/>
          </p:nvSpPr>
          <p:spPr>
            <a:xfrm>
              <a:off x="4381500" y="1422400"/>
              <a:ext cx="3429000" cy="2286000"/>
            </a:xfrm>
            <a:prstGeom prst="roundRect">
              <a:avLst/>
            </a:prstGeom>
            <a:solidFill>
              <a:srgbClr val="0B172C"/>
            </a:solidFill>
            <a:ln w="15875">
              <a:solidFill>
                <a:srgbClr val="38BD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9324A49-6EE2-1F24-EEFC-7E40A6018348}"/>
                </a:ext>
              </a:extLst>
            </p:cNvPr>
            <p:cNvSpPr/>
            <p:nvPr/>
          </p:nvSpPr>
          <p:spPr>
            <a:xfrm>
              <a:off x="4572000" y="1600200"/>
              <a:ext cx="482600" cy="279400"/>
            </a:xfrm>
            <a:prstGeom prst="roundRect">
              <a:avLst/>
            </a:prstGeom>
            <a:solidFill>
              <a:srgbClr val="0284C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rgbClr val="FFFFFF"/>
                  </a:solidFill>
                  <a:latin typeface="Segoe UI" panose="020B0502040204020203" pitchFamily="34" charset="0"/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63B4BE-30DB-1655-7479-EB2E5C0AB6B6}"/>
                </a:ext>
              </a:extLst>
            </p:cNvPr>
            <p:cNvSpPr txBox="1"/>
            <p:nvPr/>
          </p:nvSpPr>
          <p:spPr>
            <a:xfrm>
              <a:off x="4572000" y="1981200"/>
              <a:ext cx="3048000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sz="12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BHADARAKA CHIRAG HARASUKHBHAI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763C528-CE00-624B-C2C0-D226DB1CEB42}"/>
                </a:ext>
              </a:extLst>
            </p:cNvPr>
            <p:cNvCxnSpPr/>
            <p:nvPr/>
          </p:nvCxnSpPr>
          <p:spPr>
            <a:xfrm>
              <a:off x="4572000" y="2717800"/>
              <a:ext cx="3048000" cy="0"/>
            </a:xfrm>
            <a:prstGeom prst="line">
              <a:avLst/>
            </a:prstGeom>
            <a:ln w="19050" cap="flat" cmpd="sng" algn="ctr">
              <a:solidFill>
                <a:srgbClr val="FFFFFF">
                  <a:alpha val="1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F0DDB8-CBD3-975B-3FC5-9356DECB0716}"/>
                </a:ext>
              </a:extLst>
            </p:cNvPr>
            <p:cNvSpPr txBox="1"/>
            <p:nvPr/>
          </p:nvSpPr>
          <p:spPr>
            <a:xfrm>
              <a:off x="4572000" y="2819400"/>
              <a:ext cx="3048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Enrollment: 250170107010</a:t>
              </a:r>
            </a:p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Branch: COMPUTER ENGG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367DD9-7DAF-100B-5F74-774E3DDA0646}"/>
              </a:ext>
            </a:extLst>
          </p:cNvPr>
          <p:cNvGrpSpPr/>
          <p:nvPr/>
        </p:nvGrpSpPr>
        <p:grpSpPr>
          <a:xfrm>
            <a:off x="8128000" y="1422400"/>
            <a:ext cx="3429000" cy="2286000"/>
            <a:chOff x="8128000" y="1422400"/>
            <a:chExt cx="3429000" cy="2286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F27D27A-1F12-9028-873A-9B6B6134C7EF}"/>
                </a:ext>
              </a:extLst>
            </p:cNvPr>
            <p:cNvSpPr/>
            <p:nvPr/>
          </p:nvSpPr>
          <p:spPr>
            <a:xfrm>
              <a:off x="8128000" y="1422400"/>
              <a:ext cx="3429000" cy="2286000"/>
            </a:xfrm>
            <a:prstGeom prst="roundRect">
              <a:avLst/>
            </a:prstGeom>
            <a:solidFill>
              <a:srgbClr val="0B172C"/>
            </a:solidFill>
            <a:ln w="15875">
              <a:solidFill>
                <a:srgbClr val="38BD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316352C-4E7C-4DB1-8DDD-1ECB4651F389}"/>
                </a:ext>
              </a:extLst>
            </p:cNvPr>
            <p:cNvSpPr/>
            <p:nvPr/>
          </p:nvSpPr>
          <p:spPr>
            <a:xfrm>
              <a:off x="8318500" y="1600200"/>
              <a:ext cx="482600" cy="279400"/>
            </a:xfrm>
            <a:prstGeom prst="roundRect">
              <a:avLst/>
            </a:prstGeom>
            <a:solidFill>
              <a:srgbClr val="0284C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rgbClr val="FFFFFF"/>
                  </a:solidFill>
                  <a:latin typeface="Segoe UI" panose="020B0502040204020203" pitchFamily="34" charset="0"/>
                </a:rPr>
                <a:t>03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1AF05F-117D-2517-7D79-9615E690150A}"/>
                </a:ext>
              </a:extLst>
            </p:cNvPr>
            <p:cNvSpPr txBox="1"/>
            <p:nvPr/>
          </p:nvSpPr>
          <p:spPr>
            <a:xfrm>
              <a:off x="8318500" y="1981200"/>
              <a:ext cx="3048000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sz="12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MALI ASHIKKUMAR MAGANBHAI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C78E85-754B-A6DE-691D-BF2572A0E7E8}"/>
                </a:ext>
              </a:extLst>
            </p:cNvPr>
            <p:cNvCxnSpPr/>
            <p:nvPr/>
          </p:nvCxnSpPr>
          <p:spPr>
            <a:xfrm>
              <a:off x="8318500" y="2717800"/>
              <a:ext cx="3048000" cy="0"/>
            </a:xfrm>
            <a:prstGeom prst="line">
              <a:avLst/>
            </a:prstGeom>
            <a:ln w="19050" cap="flat" cmpd="sng" algn="ctr">
              <a:solidFill>
                <a:srgbClr val="FFFFFF">
                  <a:alpha val="1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E1F8BF-115D-141B-2635-F004F129F775}"/>
                </a:ext>
              </a:extLst>
            </p:cNvPr>
            <p:cNvSpPr txBox="1"/>
            <p:nvPr/>
          </p:nvSpPr>
          <p:spPr>
            <a:xfrm>
              <a:off x="8318500" y="2819400"/>
              <a:ext cx="3048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Enrollment: 250170107076</a:t>
              </a:r>
            </a:p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Branch: COMPUTER ENGG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6AB0F67-1D80-6090-5859-2BD4A395227E}"/>
              </a:ext>
            </a:extLst>
          </p:cNvPr>
          <p:cNvGrpSpPr/>
          <p:nvPr/>
        </p:nvGrpSpPr>
        <p:grpSpPr>
          <a:xfrm>
            <a:off x="635000" y="4025900"/>
            <a:ext cx="3429000" cy="2286000"/>
            <a:chOff x="635000" y="4025900"/>
            <a:chExt cx="3429000" cy="22860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65CDA9C-F1DB-FBD6-A877-CFC48AF38673}"/>
                </a:ext>
              </a:extLst>
            </p:cNvPr>
            <p:cNvSpPr/>
            <p:nvPr/>
          </p:nvSpPr>
          <p:spPr>
            <a:xfrm>
              <a:off x="635000" y="4025900"/>
              <a:ext cx="3429000" cy="2286000"/>
            </a:xfrm>
            <a:prstGeom prst="roundRect">
              <a:avLst/>
            </a:prstGeom>
            <a:solidFill>
              <a:srgbClr val="0B172C"/>
            </a:solidFill>
            <a:ln w="15875">
              <a:solidFill>
                <a:srgbClr val="38BD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B5FA5BE-17A1-54BB-7258-8CF1BA06C28A}"/>
                </a:ext>
              </a:extLst>
            </p:cNvPr>
            <p:cNvSpPr/>
            <p:nvPr/>
          </p:nvSpPr>
          <p:spPr>
            <a:xfrm>
              <a:off x="825500" y="4203700"/>
              <a:ext cx="482600" cy="279400"/>
            </a:xfrm>
            <a:prstGeom prst="roundRect">
              <a:avLst/>
            </a:prstGeom>
            <a:solidFill>
              <a:srgbClr val="0284C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rgbClr val="FFFFFF"/>
                  </a:solidFill>
                  <a:latin typeface="Segoe UI" panose="020B0502040204020203" pitchFamily="34" charset="0"/>
                </a:rPr>
                <a:t>04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E12638-C154-D914-1C8C-26D4D5DF734D}"/>
                </a:ext>
              </a:extLst>
            </p:cNvPr>
            <p:cNvSpPr txBox="1"/>
            <p:nvPr/>
          </p:nvSpPr>
          <p:spPr>
            <a:xfrm>
              <a:off x="825500" y="4584700"/>
              <a:ext cx="3048000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sz="12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SODHA MANOHARSINH CHANDUBHA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2CF6C9-1945-7AC7-34B5-2649E3A56F76}"/>
                </a:ext>
              </a:extLst>
            </p:cNvPr>
            <p:cNvCxnSpPr/>
            <p:nvPr/>
          </p:nvCxnSpPr>
          <p:spPr>
            <a:xfrm>
              <a:off x="825500" y="5321300"/>
              <a:ext cx="3048000" cy="0"/>
            </a:xfrm>
            <a:prstGeom prst="line">
              <a:avLst/>
            </a:prstGeom>
            <a:ln w="19050" cap="flat" cmpd="sng" algn="ctr">
              <a:solidFill>
                <a:srgbClr val="FFFFFF">
                  <a:alpha val="1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FF3B7B-AD7D-14C0-11B7-96A5F617933A}"/>
                </a:ext>
              </a:extLst>
            </p:cNvPr>
            <p:cNvSpPr txBox="1"/>
            <p:nvPr/>
          </p:nvSpPr>
          <p:spPr>
            <a:xfrm>
              <a:off x="825500" y="5422900"/>
              <a:ext cx="3048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sz="900">
                  <a:solidFill>
                    <a:srgbClr val="94A3B8"/>
                  </a:solidFill>
                  <a:latin typeface="Segoe UI" panose="020B0502040204020203" pitchFamily="34" charset="0"/>
                </a:rPr>
                <a:t>Enrollment: 2026BCED0018</a:t>
              </a:r>
            </a:p>
            <a:p>
              <a:r>
                <a:rPr lang="en-US" sz="900">
                  <a:solidFill>
                    <a:srgbClr val="94A3B8"/>
                  </a:solidFill>
                  <a:latin typeface="Segoe UI" panose="020B0502040204020203" pitchFamily="34" charset="0"/>
                </a:rPr>
                <a:t>Branch: COMPUTER ENGG</a:t>
              </a:r>
              <a:endParaRPr lang="en-IN" sz="900">
                <a:solidFill>
                  <a:srgbClr val="94A3B8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C301E9-B5E7-DBF9-CD44-95461573872E}"/>
              </a:ext>
            </a:extLst>
          </p:cNvPr>
          <p:cNvGrpSpPr/>
          <p:nvPr/>
        </p:nvGrpSpPr>
        <p:grpSpPr>
          <a:xfrm>
            <a:off x="4381500" y="4025900"/>
            <a:ext cx="3429000" cy="2286000"/>
            <a:chOff x="4381500" y="4025900"/>
            <a:chExt cx="3429000" cy="22860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DFA42B3-604C-1A86-74EF-9B0645A74BD7}"/>
                </a:ext>
              </a:extLst>
            </p:cNvPr>
            <p:cNvSpPr/>
            <p:nvPr/>
          </p:nvSpPr>
          <p:spPr>
            <a:xfrm>
              <a:off x="4381500" y="4025900"/>
              <a:ext cx="3429000" cy="2286000"/>
            </a:xfrm>
            <a:prstGeom prst="roundRect">
              <a:avLst/>
            </a:prstGeom>
            <a:solidFill>
              <a:srgbClr val="0B172C"/>
            </a:solidFill>
            <a:ln w="15875">
              <a:solidFill>
                <a:srgbClr val="38BD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F188E94-18A8-5A86-E881-B7625350BA2D}"/>
                </a:ext>
              </a:extLst>
            </p:cNvPr>
            <p:cNvSpPr/>
            <p:nvPr/>
          </p:nvSpPr>
          <p:spPr>
            <a:xfrm>
              <a:off x="4572000" y="4203700"/>
              <a:ext cx="482600" cy="279400"/>
            </a:xfrm>
            <a:prstGeom prst="roundRect">
              <a:avLst/>
            </a:prstGeom>
            <a:solidFill>
              <a:srgbClr val="0284C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rgbClr val="FFFFFF"/>
                  </a:solidFill>
                  <a:latin typeface="Segoe UI" panose="020B0502040204020203" pitchFamily="34" charset="0"/>
                </a:rPr>
                <a:t>05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F0A903-40C6-1971-9D29-95038BC9341F}"/>
                </a:ext>
              </a:extLst>
            </p:cNvPr>
            <p:cNvSpPr txBox="1"/>
            <p:nvPr/>
          </p:nvSpPr>
          <p:spPr>
            <a:xfrm>
              <a:off x="4572000" y="4584700"/>
              <a:ext cx="3048000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sz="12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BORADA HET JAYESHBHAI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38CFD16-2894-7220-32FB-F71BED6106FF}"/>
                </a:ext>
              </a:extLst>
            </p:cNvPr>
            <p:cNvCxnSpPr/>
            <p:nvPr/>
          </p:nvCxnSpPr>
          <p:spPr>
            <a:xfrm>
              <a:off x="4572000" y="5321300"/>
              <a:ext cx="3048000" cy="0"/>
            </a:xfrm>
            <a:prstGeom prst="line">
              <a:avLst/>
            </a:prstGeom>
            <a:ln w="19050" cap="flat" cmpd="sng" algn="ctr">
              <a:solidFill>
                <a:srgbClr val="FFFFFF">
                  <a:alpha val="1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AA45DDD-99AB-C52C-F0D1-AD96649E1E03}"/>
                </a:ext>
              </a:extLst>
            </p:cNvPr>
            <p:cNvSpPr txBox="1"/>
            <p:nvPr/>
          </p:nvSpPr>
          <p:spPr>
            <a:xfrm>
              <a:off x="4572000" y="5422900"/>
              <a:ext cx="3048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Enrollment: 250170107014</a:t>
              </a:r>
            </a:p>
            <a:p>
              <a:r>
                <a:rPr lang="en-IN" sz="900">
                  <a:solidFill>
                    <a:srgbClr val="94A3B8"/>
                  </a:solidFill>
                  <a:latin typeface="Segoe UI" panose="020B0502040204020203" pitchFamily="34" charset="0"/>
                </a:rPr>
                <a:t>Branch: COMPUTER ENGG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80F81F-747F-624B-C6D9-B0AA27BDFF0A}"/>
              </a:ext>
            </a:extLst>
          </p:cNvPr>
          <p:cNvGrpSpPr/>
          <p:nvPr/>
        </p:nvGrpSpPr>
        <p:grpSpPr>
          <a:xfrm>
            <a:off x="8128000" y="4025900"/>
            <a:ext cx="3429000" cy="2286000"/>
            <a:chOff x="8128000" y="4025900"/>
            <a:chExt cx="3429000" cy="228600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AAFA9B1-BA62-A534-7D73-76902E9B20F9}"/>
                </a:ext>
              </a:extLst>
            </p:cNvPr>
            <p:cNvSpPr/>
            <p:nvPr/>
          </p:nvSpPr>
          <p:spPr>
            <a:xfrm>
              <a:off x="8128000" y="4025900"/>
              <a:ext cx="3429000" cy="2286000"/>
            </a:xfrm>
            <a:prstGeom prst="roundRect">
              <a:avLst/>
            </a:prstGeom>
            <a:solidFill>
              <a:srgbClr val="0B172C"/>
            </a:solidFill>
            <a:ln w="15875">
              <a:solidFill>
                <a:srgbClr val="38BD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D188488-FFC7-FA15-1A0B-2463B2AD258A}"/>
                </a:ext>
              </a:extLst>
            </p:cNvPr>
            <p:cNvSpPr/>
            <p:nvPr/>
          </p:nvSpPr>
          <p:spPr>
            <a:xfrm>
              <a:off x="8318500" y="4203700"/>
              <a:ext cx="482600" cy="279400"/>
            </a:xfrm>
            <a:prstGeom prst="roundRect">
              <a:avLst/>
            </a:prstGeom>
            <a:solidFill>
              <a:srgbClr val="0284C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rgbClr val="FFFFFF"/>
                  </a:solidFill>
                  <a:latin typeface="Segoe UI" panose="020B0502040204020203" pitchFamily="34" charset="0"/>
                </a:rPr>
                <a:t>06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D4CF8F8-2C36-2DB5-EE10-3A16E247A809}"/>
                </a:ext>
              </a:extLst>
            </p:cNvPr>
            <p:cNvSpPr txBox="1"/>
            <p:nvPr/>
          </p:nvSpPr>
          <p:spPr>
            <a:xfrm>
              <a:off x="8318500" y="4584700"/>
              <a:ext cx="3048000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sz="12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DARJI TIRTH JAYANTIBHAI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90BF7B-B9B4-9370-8C5C-408184F55027}"/>
                </a:ext>
              </a:extLst>
            </p:cNvPr>
            <p:cNvCxnSpPr/>
            <p:nvPr/>
          </p:nvCxnSpPr>
          <p:spPr>
            <a:xfrm>
              <a:off x="8318500" y="5321300"/>
              <a:ext cx="3048000" cy="0"/>
            </a:xfrm>
            <a:prstGeom prst="line">
              <a:avLst/>
            </a:prstGeom>
            <a:ln w="19050" cap="flat" cmpd="sng" algn="ctr">
              <a:solidFill>
                <a:srgbClr val="FFFFFF">
                  <a:alpha val="1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E8093F4-570F-0A04-0970-19D2092DAFB1}"/>
                </a:ext>
              </a:extLst>
            </p:cNvPr>
            <p:cNvSpPr txBox="1"/>
            <p:nvPr/>
          </p:nvSpPr>
          <p:spPr>
            <a:xfrm>
              <a:off x="8318500" y="5422900"/>
              <a:ext cx="3048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sz="900">
                  <a:solidFill>
                    <a:srgbClr val="94A3B8"/>
                  </a:solidFill>
                  <a:latin typeface="Segoe UI" panose="020B0502040204020203" pitchFamily="34" charset="0"/>
                </a:rPr>
                <a:t>Enrollment: 2026BCED0004</a:t>
              </a:r>
            </a:p>
            <a:p>
              <a:r>
                <a:rPr lang="en-US" sz="900">
                  <a:solidFill>
                    <a:srgbClr val="94A3B8"/>
                  </a:solidFill>
                  <a:latin typeface="Segoe UI" panose="020B0502040204020203" pitchFamily="34" charset="0"/>
                </a:rPr>
                <a:t>Branch: COMPUTER ENGG</a:t>
              </a:r>
              <a:endParaRPr lang="en-IN" sz="900">
                <a:solidFill>
                  <a:srgbClr val="94A3B8"/>
                </a:solidFill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306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 advClick="0">
        <p:fade thruBlk="1"/>
      </p:transition>
    </mc:Choice>
    <mc:Fallback xmlns="">
      <p:transition spd="med" advClick="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4B807D-2AC3-EEC4-D532-3CE285B1696B}"/>
              </a:ext>
            </a:extLst>
          </p:cNvPr>
          <p:cNvSpPr txBox="1"/>
          <p:nvPr/>
        </p:nvSpPr>
        <p:spPr>
          <a:xfrm>
            <a:off x="635000" y="2540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BF24"/>
                </a:solidFill>
                <a:latin typeface="Segoe UI" panose="020B0502040204020203" pitchFamily="34" charset="0"/>
              </a:rPr>
              <a:t>PROBLEM DEFINITION | CLINICAL BOTTLENECK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35C7F-BBFB-6E58-4E2D-6432B6EE9E2D}"/>
              </a:ext>
            </a:extLst>
          </p:cNvPr>
          <p:cNvSpPr txBox="1"/>
          <p:nvPr/>
        </p:nvSpPr>
        <p:spPr>
          <a:xfrm>
            <a:off x="635000" y="5334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 Semibold" panose="020B0702040204020203" pitchFamily="34" charset="0"/>
              </a:rPr>
              <a:t>Unstructured Clinical Records &amp; The Hospital Information Crisis</a:t>
            </a:r>
            <a:endParaRPr lang="en-IN" sz="22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DD6D3B-1332-FEF3-4298-2AD6B8BB2A11}"/>
              </a:ext>
            </a:extLst>
          </p:cNvPr>
          <p:cNvCxnSpPr/>
          <p:nvPr/>
        </p:nvCxnSpPr>
        <p:spPr>
          <a:xfrm>
            <a:off x="635000" y="1168400"/>
            <a:ext cx="10922000" cy="0"/>
          </a:xfrm>
          <a:prstGeom prst="line">
            <a:avLst/>
          </a:prstGeom>
          <a:ln w="19050" cap="flat" cmpd="sng" algn="ctr">
            <a:solidFill>
              <a:srgbClr val="FBBF24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84E87AA-71B8-1B2C-FA21-B8865F5C7094}"/>
              </a:ext>
            </a:extLst>
          </p:cNvPr>
          <p:cNvGrpSpPr/>
          <p:nvPr/>
        </p:nvGrpSpPr>
        <p:grpSpPr>
          <a:xfrm>
            <a:off x="635000" y="1460500"/>
            <a:ext cx="5270500" cy="4635500"/>
            <a:chOff x="635000" y="1460500"/>
            <a:chExt cx="5270500" cy="46355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F9E1E9-0F2A-E7CB-1EBF-CCF99E1DA3D4}"/>
                </a:ext>
              </a:extLst>
            </p:cNvPr>
            <p:cNvSpPr/>
            <p:nvPr/>
          </p:nvSpPr>
          <p:spPr>
            <a:xfrm>
              <a:off x="635000" y="1460500"/>
              <a:ext cx="5270500" cy="4635500"/>
            </a:xfrm>
            <a:prstGeom prst="roundRect">
              <a:avLst/>
            </a:prstGeom>
            <a:solidFill>
              <a:srgbClr val="0F172A"/>
            </a:solidFill>
            <a:ln w="16510">
              <a:solidFill>
                <a:srgbClr val="FBBF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A37B60-DEA0-1BFC-A4E0-CAE5BB92C450}"/>
                </a:ext>
              </a:extLst>
            </p:cNvPr>
            <p:cNvSpPr txBox="1"/>
            <p:nvPr/>
          </p:nvSpPr>
          <p:spPr>
            <a:xfrm>
              <a:off x="825500" y="1587500"/>
              <a:ext cx="4889500" cy="24622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IN" sz="1000" b="1">
                  <a:solidFill>
                    <a:srgbClr val="FBBF24"/>
                  </a:solidFill>
                  <a:latin typeface="Segoe UI" panose="020B0502040204020203" pitchFamily="34" charset="0"/>
                </a:rPr>
                <a:t>SELECTED PROBLEM: P3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C2A298-732E-6093-32D8-5FC5EB3F0032}"/>
                </a:ext>
              </a:extLst>
            </p:cNvPr>
            <p:cNvSpPr txBox="1"/>
            <p:nvPr/>
          </p:nvSpPr>
          <p:spPr>
            <a:xfrm>
              <a:off x="825500" y="1841500"/>
              <a:ext cx="4889500" cy="307777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IN" sz="1400" b="1">
                  <a:solidFill>
                    <a:srgbClr val="FFFFFF"/>
                  </a:solidFill>
                  <a:latin typeface="Segoe UI Semibold" panose="020B0702040204020203" pitchFamily="34" charset="0"/>
                </a:rPr>
                <a:t>Medical Report Summarisation Assistant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10176D-5DC4-8A43-00CE-F9344BC4C7F5}"/>
                </a:ext>
              </a:extLst>
            </p:cNvPr>
            <p:cNvSpPr txBox="1"/>
            <p:nvPr/>
          </p:nvSpPr>
          <p:spPr>
            <a:xfrm>
              <a:off x="825500" y="2349500"/>
              <a:ext cx="4889500" cy="170816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050">
                  <a:solidFill>
                    <a:srgbClr val="E2E8F0"/>
                  </a:solidFill>
                  <a:latin typeface="Segoe UI" panose="020B0502040204020203" pitchFamily="34" charset="0"/>
                </a:rPr>
                <a:t>A hospital doctor spends 2 hours per day reading and summarising patient records for ward rounds, referral letters, and discharge summaries.</a:t>
              </a:r>
            </a:p>
            <a:p>
              <a:endParaRPr lang="en-US" sz="1050">
                <a:solidFill>
                  <a:srgbClr val="E2E8F0"/>
                </a:solidFill>
                <a:latin typeface="Segoe UI" panose="020B0502040204020203" pitchFamily="34" charset="0"/>
              </a:endParaRPr>
            </a:p>
            <a:p>
              <a:r>
                <a:rPr lang="en-US" sz="1050">
                  <a:solidFill>
                    <a:srgbClr val="E2E8F0"/>
                  </a:solidFill>
                  <a:latin typeface="Segoe UI" panose="020B0502040204020203" pitchFamily="34" charset="0"/>
                </a:rPr>
                <a:t>A complex patient with multiple admissions may have 50-200 pages of records across departments. Key clinical events, medication changes, and outstanding investigations are buried in unstructured notes.</a:t>
              </a:r>
            </a:p>
            <a:p>
              <a:endParaRPr lang="en-US" sz="1050">
                <a:solidFill>
                  <a:srgbClr val="E2E8F0"/>
                </a:solidFill>
                <a:latin typeface="Segoe UI" panose="020B0502040204020203" pitchFamily="34" charset="0"/>
              </a:endParaRPr>
            </a:p>
            <a:p>
              <a:r>
                <a:rPr lang="en-US" sz="1050">
                  <a:solidFill>
                    <a:srgbClr val="E2E8F0"/>
                  </a:solidFill>
                  <a:latin typeface="Segoe UI" panose="020B0502040204020203" pitchFamily="34" charset="0"/>
                </a:rPr>
                <a:t>Referral letters are often written from memory, creating diagnostic gaps that cause avoidable readmissions and repeat investigations costing NHS £1B+ annually.</a:t>
              </a:r>
              <a:endParaRPr lang="en-IN" sz="1050">
                <a:solidFill>
                  <a:srgbClr val="E2E8F0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FA9118-1C93-F31F-D3F7-C37DA4361370}"/>
              </a:ext>
            </a:extLst>
          </p:cNvPr>
          <p:cNvSpPr/>
          <p:nvPr/>
        </p:nvSpPr>
        <p:spPr>
          <a:xfrm>
            <a:off x="6223000" y="1460500"/>
            <a:ext cx="5334000" cy="1460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77800" rIns="228600" rtlCol="0" anchor="ctr"/>
          <a:lstStyle/>
          <a:p>
            <a:pPr algn="ctr"/>
            <a:r>
              <a:rPr lang="en-US" sz="1050">
                <a:solidFill>
                  <a:srgbClr val="E2E8F0"/>
                </a:solidFill>
                <a:latin typeface="Segoe UI" panose="020B0502040204020203" pitchFamily="34" charset="0"/>
              </a:rPr>
              <a:t>WHO IS AFFECTED</a:t>
            </a:r>
          </a:p>
          <a:p>
            <a:pPr algn="ctr"/>
            <a:r>
              <a:rPr lang="en-US" sz="1050">
                <a:solidFill>
                  <a:srgbClr val="E2E8F0"/>
                </a:solidFill>
                <a:latin typeface="Segoe UI" panose="020B0502040204020203" pitchFamily="34" charset="0"/>
              </a:rPr>
              <a:t>Hospital physicians, ward clinicians, and multidisciplinary care teams coordinating complex patient transitions across hospital units.</a:t>
            </a:r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7D7772-09F3-CEC9-3741-5F99C40E4CED}"/>
              </a:ext>
            </a:extLst>
          </p:cNvPr>
          <p:cNvSpPr/>
          <p:nvPr/>
        </p:nvSpPr>
        <p:spPr>
          <a:xfrm>
            <a:off x="6223000" y="3048000"/>
            <a:ext cx="5334000" cy="1460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77800" rIns="228600" rtlCol="0" anchor="ctr"/>
          <a:lstStyle/>
          <a:p>
            <a:pPr algn="ctr"/>
            <a:r>
              <a:rPr lang="en-US" sz="1050">
                <a:solidFill>
                  <a:srgbClr val="E2E8F0"/>
                </a:solidFill>
                <a:latin typeface="Segoe UI" panose="020B0502040204020203" pitchFamily="34" charset="0"/>
              </a:rPr>
              <a:t>WHAT IS HAPPENING</a:t>
            </a:r>
          </a:p>
          <a:p>
            <a:pPr algn="ctr"/>
            <a:r>
              <a:rPr lang="en-US" sz="1050">
                <a:solidFill>
                  <a:srgbClr val="E2E8F0"/>
                </a:solidFill>
                <a:latin typeface="Segoe UI" panose="020B0502040204020203" pitchFamily="34" charset="0"/>
              </a:rPr>
              <a:t>Dense EHR files bury crucial medication deltas, pending lab reports, and vitals history across decades of unstructured notes.</a:t>
            </a:r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260C97-0337-C604-056A-ED6D9A449F02}"/>
              </a:ext>
            </a:extLst>
          </p:cNvPr>
          <p:cNvSpPr/>
          <p:nvPr/>
        </p:nvSpPr>
        <p:spPr>
          <a:xfrm>
            <a:off x="6223000" y="4635500"/>
            <a:ext cx="5334000" cy="1460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77800" rIns="228600" rtlCol="0" anchor="ctr"/>
          <a:lstStyle/>
          <a:p>
            <a:pPr algn="ctr"/>
            <a:r>
              <a:rPr lang="en-US" sz="1050">
                <a:solidFill>
                  <a:srgbClr val="E2E8F0"/>
                </a:solidFill>
                <a:latin typeface="Segoe UI" panose="020B0502040204020203" pitchFamily="34" charset="0"/>
              </a:rPr>
              <a:t>WHY IT HURTS</a:t>
            </a:r>
          </a:p>
          <a:p>
            <a:pPr algn="ctr"/>
            <a:r>
              <a:rPr lang="en-US" sz="1050">
                <a:solidFill>
                  <a:srgbClr val="E2E8F0"/>
                </a:solidFill>
                <a:latin typeface="Segoe UI" panose="020B0502040204020203" pitchFamily="34" charset="0"/>
              </a:rPr>
              <a:t>Clinicians suffer cognitive overload; memory-based referral letters drive avoidable readmissions and £1B+ redundant hospital investigations.</a:t>
            </a:r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03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 advClick="0">
        <p:fade thruBlk="1"/>
      </p:transition>
    </mc:Choice>
    <mc:Fallback xmlns="">
      <p:transition spd="med" advClick="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18BCF-3FD2-FB05-B170-1C47F9DD6C44}"/>
              </a:ext>
            </a:extLst>
          </p:cNvPr>
          <p:cNvSpPr txBox="1"/>
          <p:nvPr/>
        </p:nvSpPr>
        <p:spPr>
          <a:xfrm>
            <a:off x="635000" y="2540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EA5E9"/>
                </a:solidFill>
                <a:latin typeface="Segoe UI" panose="020B0502040204020203" pitchFamily="34" charset="0"/>
              </a:rPr>
              <a:t>OUR SOLUTION | CLINICAL INTELLIGENCE CAPABILITIES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FBE5F-7533-25E4-7DEB-EF81D9DF3F9A}"/>
              </a:ext>
            </a:extLst>
          </p:cNvPr>
          <p:cNvSpPr txBox="1"/>
          <p:nvPr/>
        </p:nvSpPr>
        <p:spPr>
          <a:xfrm>
            <a:off x="635000" y="5334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 Semibold" panose="020B0702040204020203" pitchFamily="34" charset="0"/>
              </a:rPr>
              <a:t>4-Pillar Clinical Decision Support &amp; Record Synthesis Engine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8AA599-21E6-2411-379E-028EF24BD493}"/>
              </a:ext>
            </a:extLst>
          </p:cNvPr>
          <p:cNvCxnSpPr/>
          <p:nvPr/>
        </p:nvCxnSpPr>
        <p:spPr>
          <a:xfrm>
            <a:off x="635000" y="1168400"/>
            <a:ext cx="10922000" cy="0"/>
          </a:xfrm>
          <a:prstGeom prst="line">
            <a:avLst/>
          </a:prstGeom>
          <a:ln w="19050" cap="flat" cmpd="sng" algn="ctr">
            <a:solidFill>
              <a:srgbClr val="38BDF8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55BAD4-0501-1CFF-536F-F85ED3B10717}"/>
              </a:ext>
            </a:extLst>
          </p:cNvPr>
          <p:cNvSpPr/>
          <p:nvPr/>
        </p:nvSpPr>
        <p:spPr>
          <a:xfrm>
            <a:off x="635000" y="1460500"/>
            <a:ext cx="2540000" cy="45720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03200" rIns="177800" rtlCol="0" anchor="ctr"/>
          <a:lstStyle/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PILLAR 01 - INGESTION &amp; CLEANING</a:t>
            </a:r>
          </a:p>
          <a:p>
            <a:pPr algn="ctr"/>
            <a:endParaRPr lang="en-IN" sz="10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Ingests PDF lab reports, OCR scanned documents, text, and DOCX files.</a:t>
            </a: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Automatically strips OCR artifacts and cleans noisy clinical scans.</a:t>
            </a: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Normalizes patient demographics (Age, Gender, MRN) with zero manual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276996-C828-112C-23A4-42E1977E6596}"/>
              </a:ext>
            </a:extLst>
          </p:cNvPr>
          <p:cNvSpPr/>
          <p:nvPr/>
        </p:nvSpPr>
        <p:spPr>
          <a:xfrm>
            <a:off x="3429000" y="1460500"/>
            <a:ext cx="2540000" cy="45720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03200" rIns="177800" rtlCol="0" anchor="ctr"/>
          <a:lstStyle/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PILLAR 02 - DUAL-ENGINE CORE</a:t>
            </a:r>
          </a:p>
          <a:p>
            <a:pPr algn="ctr"/>
            <a:endParaRPr lang="en-IN" sz="10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Generative AI Layer: Multi-perspective clinical context and narrative summaries.</a:t>
            </a: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Deterministic Engine: Evaluates 40+ standardized biomarkers (Hb, Platelets, Creatinine).</a:t>
            </a: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Strict reference bounds and anomaly alerts with absolute zero hallucination.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FDF528-CC88-12C3-7910-3ED8BE1A07B7}"/>
              </a:ext>
            </a:extLst>
          </p:cNvPr>
          <p:cNvSpPr/>
          <p:nvPr/>
        </p:nvSpPr>
        <p:spPr>
          <a:xfrm>
            <a:off x="6223000" y="1460500"/>
            <a:ext cx="2540000" cy="45720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03200" rIns="177800" rtlCol="0" anchor="ctr"/>
          <a:lstStyle/>
          <a:p>
            <a:pPr algn="ctr"/>
            <a:r>
              <a:rPr lang="en-US" sz="1000">
                <a:solidFill>
                  <a:srgbClr val="E2E8F0"/>
                </a:solidFill>
                <a:latin typeface="Segoe UI" panose="020B0502040204020203" pitchFamily="34" charset="0"/>
              </a:rPr>
              <a:t>PILLAR 03 - SPECIALIZED VIEWS</a:t>
            </a:r>
          </a:p>
          <a:p>
            <a:pPr algn="ctr"/>
            <a:endParaRPr lang="en-US" sz="10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000">
                <a:solidFill>
                  <a:srgbClr val="E2E8F0"/>
                </a:solidFill>
                <a:latin typeface="Segoe UI" panose="020B0502040204020203" pitchFamily="34" charset="0"/>
              </a:rPr>
              <a:t>• Executive Overview: Rapid 30-second ward round summary.</a:t>
            </a:r>
          </a:p>
          <a:p>
            <a:pPr algn="ctr"/>
            <a:r>
              <a:rPr lang="en-US" sz="1000">
                <a:solidFill>
                  <a:srgbClr val="E2E8F0"/>
                </a:solidFill>
                <a:latin typeface="Segoe UI" panose="020B0502040204020203" pitchFamily="34" charset="0"/>
              </a:rPr>
              <a:t>• Comprehensive Assessment: In-depth pathology analysis across admissions.</a:t>
            </a:r>
          </a:p>
          <a:p>
            <a:pPr algn="ctr"/>
            <a:r>
              <a:rPr lang="en-US" sz="1000">
                <a:solidFill>
                  <a:srgbClr val="E2E8F0"/>
                </a:solidFill>
                <a:latin typeface="Segoe UI" panose="020B0502040204020203" pitchFamily="34" charset="0"/>
              </a:rPr>
              <a:t>• Medication Review &amp; Lab Trends: Tracks drug diffs and chronological shifts.</a:t>
            </a:r>
            <a:endParaRPr lang="en-IN" sz="10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C4583F-6EA0-38F1-8C07-1C961B3441A8}"/>
              </a:ext>
            </a:extLst>
          </p:cNvPr>
          <p:cNvSpPr/>
          <p:nvPr/>
        </p:nvSpPr>
        <p:spPr>
          <a:xfrm>
            <a:off x="9017000" y="1460500"/>
            <a:ext cx="2540000" cy="45720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03200" rIns="177800" rtlCol="0" anchor="ctr"/>
          <a:lstStyle/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PILLAR 04 - SAFETY &amp; EXPORT</a:t>
            </a:r>
          </a:p>
          <a:p>
            <a:pPr algn="ctr"/>
            <a:endParaRPr lang="en-IN" sz="10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Grounded Q&amp;A: Fact-store tethered queries strictly refusing non-clinical chats.</a:t>
            </a: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Symptom Intake Triage: Severity scores (1-10) with Emergency red-flag alerts.</a:t>
            </a:r>
          </a:p>
          <a:p>
            <a:pPr algn="ctr"/>
            <a:r>
              <a:rPr lang="en-IN" sz="1000">
                <a:solidFill>
                  <a:srgbClr val="E2E8F0"/>
                </a:solidFill>
                <a:latin typeface="Segoe UI" panose="020B0502040204020203" pitchFamily="34" charset="0"/>
              </a:rPr>
              <a:t>• Exportable PDF Clinical Reports: Instant printable handoffs for transfers.</a:t>
            </a:r>
          </a:p>
        </p:txBody>
      </p:sp>
    </p:spTree>
    <p:extLst>
      <p:ext uri="{BB962C8B-B14F-4D97-AF65-F5344CB8AC3E}">
        <p14:creationId xmlns:p14="http://schemas.microsoft.com/office/powerpoint/2010/main" val="121000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 advClick="0">
        <p:fade thruBlk="1"/>
      </p:transition>
    </mc:Choice>
    <mc:Fallback xmlns="">
      <p:transition spd="med" advClick="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63B22-85F6-0F54-77EF-5AC1985EF04D}"/>
              </a:ext>
            </a:extLst>
          </p:cNvPr>
          <p:cNvSpPr txBox="1"/>
          <p:nvPr/>
        </p:nvSpPr>
        <p:spPr>
          <a:xfrm>
            <a:off x="635000" y="2540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EA5E9"/>
                </a:solidFill>
                <a:latin typeface="Segoe UI" panose="020B0502040204020203" pitchFamily="34" charset="0"/>
              </a:rPr>
              <a:t>SYSTEM ARCHITECTURE | DUAL-ENGINE TOPOLOGY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33446-F24F-F3C8-7F5C-E27779EB8E5A}"/>
              </a:ext>
            </a:extLst>
          </p:cNvPr>
          <p:cNvSpPr txBox="1"/>
          <p:nvPr/>
        </p:nvSpPr>
        <p:spPr>
          <a:xfrm>
            <a:off x="635000" y="5334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 Semibold" panose="020B0702040204020203" pitchFamily="34" charset="0"/>
              </a:rPr>
              <a:t>End-to-End Processing: Raw Ingestion to Deterministic Bounds</a:t>
            </a:r>
            <a:endParaRPr lang="en-IN" sz="22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C9B2E3-5430-71DC-00F4-36B98BF8DF0A}"/>
              </a:ext>
            </a:extLst>
          </p:cNvPr>
          <p:cNvCxnSpPr/>
          <p:nvPr/>
        </p:nvCxnSpPr>
        <p:spPr>
          <a:xfrm>
            <a:off x="635000" y="1168400"/>
            <a:ext cx="10922000" cy="0"/>
          </a:xfrm>
          <a:prstGeom prst="line">
            <a:avLst/>
          </a:prstGeom>
          <a:ln w="19050" cap="flat" cmpd="sng" algn="ctr">
            <a:solidFill>
              <a:srgbClr val="38BDF8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359715-F2F1-CC9F-E497-7F752A149031}"/>
              </a:ext>
            </a:extLst>
          </p:cNvPr>
          <p:cNvSpPr/>
          <p:nvPr/>
        </p:nvSpPr>
        <p:spPr>
          <a:xfrm>
            <a:off x="635000" y="1460500"/>
            <a:ext cx="10922000" cy="12954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17500" tIns="152400" rIns="317500" rtlCol="0" anchor="ctr"/>
          <a:lstStyle/>
          <a:p>
            <a:pPr algn="ctr"/>
            <a:r>
              <a:rPr lang="en-IN" sz="1100">
                <a:solidFill>
                  <a:srgbClr val="E2E8F0"/>
                </a:solidFill>
                <a:latin typeface="Segoe UI" panose="020B0502040204020203" pitchFamily="34" charset="0"/>
              </a:rPr>
              <a:t>LAYER 01: INGESTION  |  Multimodal Document Ingestion &amp; Demographics Cleansing Pipeline</a:t>
            </a:r>
          </a:p>
          <a:p>
            <a:pPr algn="ctr"/>
            <a:r>
              <a:rPr lang="en-IN" sz="1100">
                <a:solidFill>
                  <a:srgbClr val="E2E8F0"/>
                </a:solidFill>
                <a:latin typeface="Segoe UI" panose="020B0502040204020203" pitchFamily="34" charset="0"/>
              </a:rPr>
              <a:t>Parses PDF lab panels, OCR scanned images, and DOCX records. Strips artifacts and normalizes metadata (Age, Gender, MRN) into structured JSON data blocks.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37C6BD-811E-BA53-FF03-980BDA43BE81}"/>
              </a:ext>
            </a:extLst>
          </p:cNvPr>
          <p:cNvSpPr/>
          <p:nvPr/>
        </p:nvSpPr>
        <p:spPr>
          <a:xfrm>
            <a:off x="635000" y="2959100"/>
            <a:ext cx="10922000" cy="12954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17500" tIns="152400" rIns="317500" rtlCol="0" anchor="ctr"/>
          <a:lstStyle/>
          <a:p>
            <a:pPr algn="ctr"/>
            <a:r>
              <a:rPr lang="en-IN" sz="1100">
                <a:solidFill>
                  <a:srgbClr val="E2E8F0"/>
                </a:solidFill>
                <a:latin typeface="Segoe UI" panose="020B0502040204020203" pitchFamily="34" charset="0"/>
              </a:rPr>
              <a:t>LAYER 02: DUAL-CORE  |  Hybrid Reasoning Engine: Generative LLM + 40 Standard Biomarker Rules</a:t>
            </a:r>
          </a:p>
          <a:p>
            <a:pPr algn="ctr"/>
            <a:r>
              <a:rPr lang="en-IN" sz="1100">
                <a:solidFill>
                  <a:srgbClr val="E2E8F0"/>
                </a:solidFill>
                <a:latin typeface="Segoe UI" panose="020B0502040204020203" pitchFamily="34" charset="0"/>
              </a:rPr>
              <a:t>Generative LLM performs multi-perspective synthesis; Deterministic engine validates 40+ biomarkers (Hemoglobin, Platelets, Creatinine, Bilirubin) with zero latency.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EE8AD5-2A64-A4C5-9F1C-D9B9899A13E5}"/>
              </a:ext>
            </a:extLst>
          </p:cNvPr>
          <p:cNvSpPr/>
          <p:nvPr/>
        </p:nvSpPr>
        <p:spPr>
          <a:xfrm>
            <a:off x="635000" y="4457700"/>
            <a:ext cx="10922000" cy="12954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17500" tIns="152400" rIns="3175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  <a:latin typeface="Segoe UI" panose="020B0502040204020203" pitchFamily="34" charset="0"/>
              </a:rPr>
              <a:t>LAYER 03: CLINICAL UX  |  Specialized Clinical Services, Guardrailed Triage &amp; Exportable Reports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Segoe UI" panose="020B0502040204020203" pitchFamily="34" charset="0"/>
              </a:rPr>
              <a:t>Delivers 4 dynamic clinical views, longitudinal tracking of vital sign trends, grounded conversational triage (1-10 severity), and printable PDF handoff cards.</a:t>
            </a:r>
            <a:endParaRPr lang="en-IN" sz="11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0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 advClick="0">
        <p:fade thruBlk="1"/>
      </p:transition>
    </mc:Choice>
    <mc:Fallback xmlns="">
      <p:transition spd="med" advClick="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DB9E0-6787-871E-E6DD-24231F7E2EB4}"/>
              </a:ext>
            </a:extLst>
          </p:cNvPr>
          <p:cNvSpPr txBox="1"/>
          <p:nvPr/>
        </p:nvSpPr>
        <p:spPr>
          <a:xfrm>
            <a:off x="635000" y="2540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8BDF8"/>
                </a:solidFill>
                <a:latin typeface="Segoe UI" panose="020B0502040204020203" pitchFamily="34" charset="0"/>
              </a:rPr>
              <a:t>IBM TECHNOLOGY INTEGRATION | WATSONX &amp; BOB API</a:t>
            </a:r>
            <a:endParaRPr lang="en-IN" sz="11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DB911-0DD3-0505-0DFF-AAA72E721570}"/>
              </a:ext>
            </a:extLst>
          </p:cNvPr>
          <p:cNvSpPr txBox="1"/>
          <p:nvPr/>
        </p:nvSpPr>
        <p:spPr>
          <a:xfrm>
            <a:off x="635000" y="5334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 Semibold" panose="020B0702040204020203" pitchFamily="34" charset="0"/>
              </a:rPr>
              <a:t>Enterprise Medical AI Powered by IBM Granite (granite3.3:8b)</a:t>
            </a:r>
            <a:endParaRPr lang="en-IN" sz="22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627213-DDD3-F9C8-0114-04572EE58378}"/>
              </a:ext>
            </a:extLst>
          </p:cNvPr>
          <p:cNvCxnSpPr/>
          <p:nvPr/>
        </p:nvCxnSpPr>
        <p:spPr>
          <a:xfrm>
            <a:off x="635000" y="1168400"/>
            <a:ext cx="10922000" cy="0"/>
          </a:xfrm>
          <a:prstGeom prst="line">
            <a:avLst/>
          </a:prstGeom>
          <a:ln w="19050" cap="flat" cmpd="sng" algn="ctr">
            <a:solidFill>
              <a:srgbClr val="38BDF8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1F8500-0A1F-5F84-1201-1074F22AC98E}"/>
              </a:ext>
            </a:extLst>
          </p:cNvPr>
          <p:cNvSpPr/>
          <p:nvPr/>
        </p:nvSpPr>
        <p:spPr>
          <a:xfrm>
            <a:off x="635000" y="1460500"/>
            <a:ext cx="5270500" cy="2095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/>
            <a:r>
              <a:rPr lang="en-IN" sz="1150">
                <a:solidFill>
                  <a:srgbClr val="E2E8F0"/>
                </a:solidFill>
                <a:latin typeface="Segoe UI" panose="020B0502040204020203" pitchFamily="34" charset="0"/>
              </a:rPr>
              <a:t>IBM WATSONX.AI &amp; BOB API</a:t>
            </a:r>
          </a:p>
          <a:p>
            <a:pPr algn="ctr"/>
            <a:endParaRPr lang="en-IN" sz="11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150">
                <a:solidFill>
                  <a:srgbClr val="E2E8F0"/>
                </a:solidFill>
                <a:latin typeface="Segoe UI" panose="020B0502040204020203" pitchFamily="34" charset="0"/>
              </a:rPr>
              <a:t>Enterprise interface running open clinical models like IBM Granite 3.3 (8B parameters) for deterministic extraction and clinical summarization.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0017DD-B77B-46F9-CFCE-C5E5EA9B6AD6}"/>
              </a:ext>
            </a:extLst>
          </p:cNvPr>
          <p:cNvSpPr/>
          <p:nvPr/>
        </p:nvSpPr>
        <p:spPr>
          <a:xfrm>
            <a:off x="6286500" y="1460500"/>
            <a:ext cx="5270500" cy="2095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/>
            <a:r>
              <a:rPr lang="en-US" sz="1150">
                <a:solidFill>
                  <a:srgbClr val="E2E8F0"/>
                </a:solidFill>
                <a:latin typeface="Segoe UI" panose="020B0502040204020203" pitchFamily="34" charset="0"/>
              </a:rPr>
              <a:t>STRUCTURED JSON EXTRACTION</a:t>
            </a:r>
          </a:p>
          <a:p>
            <a:pPr algn="ctr"/>
            <a:endParaRPr lang="en-US" sz="11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150">
                <a:solidFill>
                  <a:srgbClr val="E2E8F0"/>
                </a:solidFill>
                <a:latin typeface="Segoe UI" panose="020B0502040204020203" pitchFamily="34" charset="0"/>
              </a:rPr>
              <a:t>Raw OCR text mapped to strict JSON schemas, accurately isolating lab biomarkers, units, reference boundaries, and dosages without hallucinations.</a:t>
            </a:r>
            <a:endParaRPr lang="en-IN" sz="11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769054-A96D-B8A7-D9D7-F1CD9038D475}"/>
              </a:ext>
            </a:extLst>
          </p:cNvPr>
          <p:cNvSpPr/>
          <p:nvPr/>
        </p:nvSpPr>
        <p:spPr>
          <a:xfrm>
            <a:off x="635000" y="3810000"/>
            <a:ext cx="5270500" cy="2095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/>
            <a:r>
              <a:rPr lang="en-IN" sz="1150">
                <a:solidFill>
                  <a:srgbClr val="E2E8F0"/>
                </a:solidFill>
                <a:latin typeface="Segoe UI" panose="020B0502040204020203" pitchFamily="34" charset="0"/>
              </a:rPr>
              <a:t>LONGITUDINAL REASONING</a:t>
            </a:r>
          </a:p>
          <a:p>
            <a:pPr algn="ctr"/>
            <a:endParaRPr lang="en-IN" sz="11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150">
                <a:solidFill>
                  <a:srgbClr val="E2E8F0"/>
                </a:solidFill>
                <a:latin typeface="Segoe UI" panose="020B0502040204020203" pitchFamily="34" charset="0"/>
              </a:rPr>
              <a:t>Evaluates historical trends across multiple visits, detecting subtle biomarker shifts (e.g. declining eGFR, rising HbA1c) before emergency stages.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3B5871-7F1E-59AA-41B4-CBED282759F6}"/>
              </a:ext>
            </a:extLst>
          </p:cNvPr>
          <p:cNvSpPr/>
          <p:nvPr/>
        </p:nvSpPr>
        <p:spPr>
          <a:xfrm>
            <a:off x="6286500" y="3810000"/>
            <a:ext cx="5270500" cy="2095500"/>
          </a:xfrm>
          <a:prstGeom prst="roundRect">
            <a:avLst/>
          </a:prstGeom>
          <a:solidFill>
            <a:srgbClr val="0B172C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/>
            <a:r>
              <a:rPr lang="en-US" sz="1150">
                <a:solidFill>
                  <a:srgbClr val="E2E8F0"/>
                </a:solidFill>
                <a:latin typeface="Segoe UI" panose="020B0502040204020203" pitchFamily="34" charset="0"/>
              </a:rPr>
              <a:t>GROUNDED RETRIEVAL GUARDRAILS</a:t>
            </a:r>
          </a:p>
          <a:p>
            <a:pPr algn="ctr"/>
            <a:endParaRPr lang="en-US" sz="11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150">
                <a:solidFill>
                  <a:srgbClr val="E2E8F0"/>
                </a:solidFill>
                <a:latin typeface="Segoe UI" panose="020B0502040204020203" pitchFamily="34" charset="0"/>
              </a:rPr>
              <a:t>Uses retrieval-grounded prompting over the patient's fact-store so answers stay tethered to uploaded documents, refusing non-clinical claims.</a:t>
            </a:r>
            <a:endParaRPr lang="en-IN" sz="11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3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 advClick="0">
        <p:fade thruBlk="1"/>
      </p:transition>
    </mc:Choice>
    <mc:Fallback xmlns="">
      <p:transition spd="med" advClick="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625B6-C953-2558-EB78-ADA9AA5D6CA2}"/>
              </a:ext>
            </a:extLst>
          </p:cNvPr>
          <p:cNvSpPr txBox="1"/>
          <p:nvPr/>
        </p:nvSpPr>
        <p:spPr>
          <a:xfrm>
            <a:off x="635000" y="2540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4ADE80"/>
                </a:solidFill>
                <a:latin typeface="Segoe UI" panose="020B0502040204020203" pitchFamily="34" charset="0"/>
              </a:rPr>
              <a:t>VALUE PROPOSITION | BEYOND THE HACKATHON</a:t>
            </a:r>
            <a:endParaRPr lang="en-IN" sz="1100" b="1">
              <a:solidFill>
                <a:srgbClr val="4ADE8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F06ED-22A5-23E1-F09D-8CD68EAB490F}"/>
              </a:ext>
            </a:extLst>
          </p:cNvPr>
          <p:cNvSpPr txBox="1"/>
          <p:nvPr/>
        </p:nvSpPr>
        <p:spPr>
          <a:xfrm>
            <a:off x="635000" y="5334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 Semibold" panose="020B0702040204020203" pitchFamily="34" charset="0"/>
              </a:rPr>
              <a:t>Measurable Healthcare Impact &amp; Future Scalability</a:t>
            </a:r>
            <a:endParaRPr lang="en-IN" sz="22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AB96A5-29E0-717F-3FE5-44E1A5458ADC}"/>
              </a:ext>
            </a:extLst>
          </p:cNvPr>
          <p:cNvCxnSpPr/>
          <p:nvPr/>
        </p:nvCxnSpPr>
        <p:spPr>
          <a:xfrm>
            <a:off x="635000" y="1168400"/>
            <a:ext cx="10922000" cy="0"/>
          </a:xfrm>
          <a:prstGeom prst="line">
            <a:avLst/>
          </a:prstGeom>
          <a:ln w="19050" cap="flat" cmpd="sng" algn="ctr">
            <a:solidFill>
              <a:srgbClr val="4ADE80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287DA6-A88F-3A1A-A560-360B17481BEF}"/>
              </a:ext>
            </a:extLst>
          </p:cNvPr>
          <p:cNvSpPr/>
          <p:nvPr/>
        </p:nvSpPr>
        <p:spPr>
          <a:xfrm>
            <a:off x="635000" y="1460500"/>
            <a:ext cx="5270500" cy="4572000"/>
          </a:xfrm>
          <a:prstGeom prst="roundRect">
            <a:avLst/>
          </a:prstGeom>
          <a:solidFill>
            <a:srgbClr val="0B172C"/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54000" rIns="254000" rtlCol="0" anchor="ctr"/>
          <a:lstStyle/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IMMEDIATE CLINICAL ROI</a:t>
            </a:r>
          </a:p>
          <a:p>
            <a:pPr algn="ctr"/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• Eliminates Patient Jargon Barrier:</a:t>
            </a: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  Translates dense PDF lab panels into clear contextual summaries with safety alerts for patients.</a:t>
            </a:r>
          </a:p>
          <a:p>
            <a:pPr algn="ctr"/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• Alleviates Clinician EHR Burnout:</a:t>
            </a: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  Primary doctors spend 2 hrs in notes for every 1 hr of care. Pre-digests 50-200 pages into instant briefs.</a:t>
            </a:r>
          </a:p>
          <a:p>
            <a:pPr algn="ctr"/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• Prevents Costly Readmissions:</a:t>
            </a: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  Accurate referral letters bridge gaps that cost the NHS over £1 Billion annually.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349CEE-5429-E95B-1A1F-59946BE7D4D2}"/>
              </a:ext>
            </a:extLst>
          </p:cNvPr>
          <p:cNvSpPr/>
          <p:nvPr/>
        </p:nvSpPr>
        <p:spPr>
          <a:xfrm>
            <a:off x="6286500" y="1460500"/>
            <a:ext cx="5270500" cy="4572000"/>
          </a:xfrm>
          <a:prstGeom prst="roundRect">
            <a:avLst/>
          </a:prstGeom>
          <a:solidFill>
            <a:srgbClr val="0A1A20"/>
          </a:solidFill>
          <a:ln w="16510"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54000" rIns="254000" rtlCol="0" anchor="ctr"/>
          <a:lstStyle/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FUTURE SCALABILITY ROADMAP</a:t>
            </a:r>
          </a:p>
          <a:p>
            <a:pPr algn="ctr"/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• FHIR / HL7 EHR Interoperability:</a:t>
            </a: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  Direct bidirectional syncing with hospital EHRs (Epic, Cerner) to ingest and push summaries.</a:t>
            </a:r>
          </a:p>
          <a:p>
            <a:pPr algn="ctr"/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• Preventative Risk Stratification:</a:t>
            </a: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  Longitudinal biomarker alerts detect early trends toward CKD, pre-diabetes, and anemia.</a:t>
            </a:r>
          </a:p>
          <a:p>
            <a:pPr algn="ctr"/>
            <a:endParaRPr lang="en-IN" sz="105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• Multilingual &amp; Voice-First Access:</a:t>
            </a:r>
          </a:p>
          <a:p>
            <a:pPr algn="ctr"/>
            <a:r>
              <a:rPr lang="en-IN" sz="1050">
                <a:solidFill>
                  <a:srgbClr val="E2E8F0"/>
                </a:solidFill>
                <a:latin typeface="Segoe UI" panose="020B0502040204020203" pitchFamily="34" charset="0"/>
              </a:rPr>
              <a:t>  Voice interfaces in regional languages to empower elderly and rural patients.</a:t>
            </a:r>
          </a:p>
        </p:txBody>
      </p:sp>
    </p:spTree>
    <p:extLst>
      <p:ext uri="{BB962C8B-B14F-4D97-AF65-F5344CB8AC3E}">
        <p14:creationId xmlns:p14="http://schemas.microsoft.com/office/powerpoint/2010/main" val="2623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 advClick="0">
        <p:fade thruBlk="1"/>
      </p:transition>
    </mc:Choice>
    <mc:Fallback xmlns="">
      <p:transition spd="med" advClick="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E13D7E-2750-87CC-2A35-41108108366B}"/>
              </a:ext>
            </a:extLst>
          </p:cNvPr>
          <p:cNvSpPr/>
          <p:nvPr/>
        </p:nvSpPr>
        <p:spPr>
          <a:xfrm>
            <a:off x="2032000" y="1016000"/>
            <a:ext cx="8128000" cy="4826000"/>
          </a:xfrm>
          <a:prstGeom prst="roundRect">
            <a:avLst/>
          </a:prstGeom>
          <a:solidFill>
            <a:srgbClr val="0B172C"/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23E573-CD23-8FD7-454A-185F5D830E3D}"/>
              </a:ext>
            </a:extLst>
          </p:cNvPr>
          <p:cNvSpPr/>
          <p:nvPr/>
        </p:nvSpPr>
        <p:spPr>
          <a:xfrm>
            <a:off x="4064000" y="1460500"/>
            <a:ext cx="4064000" cy="355600"/>
          </a:xfrm>
          <a:prstGeom prst="roundRect">
            <a:avLst/>
          </a:prstGeom>
          <a:solidFill>
            <a:srgbClr val="0B1E3A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38BDF8"/>
                </a:solidFill>
                <a:latin typeface="Segoe UI" panose="020B0502040204020203" pitchFamily="34" charset="0"/>
              </a:rPr>
              <a:t>IBM HACKATHON 2026 | AI &amp; HEALTHCARE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F12EC-2424-41D5-111B-10120134C654}"/>
              </a:ext>
            </a:extLst>
          </p:cNvPr>
          <p:cNvSpPr txBox="1"/>
          <p:nvPr/>
        </p:nvSpPr>
        <p:spPr>
          <a:xfrm>
            <a:off x="2286000" y="2095500"/>
            <a:ext cx="762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4400" b="1">
                <a:solidFill>
                  <a:srgbClr val="FFFFFF"/>
                </a:solidFill>
                <a:latin typeface="Segoe UI Semibold" panose="020B0702040204020203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0A9AD-0062-8198-C807-382AAC5A7FB3}"/>
              </a:ext>
            </a:extLst>
          </p:cNvPr>
          <p:cNvSpPr txBox="1"/>
          <p:nvPr/>
        </p:nvSpPr>
        <p:spPr>
          <a:xfrm>
            <a:off x="2286000" y="3111500"/>
            <a:ext cx="762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>
                <a:solidFill>
                  <a:srgbClr val="38BDF8"/>
                </a:solidFill>
                <a:latin typeface="Segoe UI" panose="020B0502040204020203" pitchFamily="34" charset="0"/>
              </a:rPr>
              <a:t>Open for Questions &amp; Discussion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E09029-FB92-9DA8-1995-D5FAFDDB3707}"/>
              </a:ext>
            </a:extLst>
          </p:cNvPr>
          <p:cNvCxnSpPr/>
          <p:nvPr/>
        </p:nvCxnSpPr>
        <p:spPr>
          <a:xfrm>
            <a:off x="3556000" y="3810000"/>
            <a:ext cx="5080000" cy="0"/>
          </a:xfrm>
          <a:prstGeom prst="line">
            <a:avLst/>
          </a:prstGeom>
          <a:ln w="19050" cap="flat" cmpd="sng" algn="ctr">
            <a:solidFill>
              <a:srgbClr val="38BDF8">
                <a:alpha val="5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704928-EEA0-1882-04D9-C123F799C823}"/>
              </a:ext>
            </a:extLst>
          </p:cNvPr>
          <p:cNvSpPr txBox="1"/>
          <p:nvPr/>
        </p:nvSpPr>
        <p:spPr>
          <a:xfrm>
            <a:off x="2286000" y="4064000"/>
            <a:ext cx="762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Department of Computer Engineering</a:t>
            </a:r>
          </a:p>
          <a:p>
            <a:pPr algn="ctr"/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Vishwakarma Government Engineering College (VGEC), Chandkheda</a:t>
            </a:r>
          </a:p>
          <a:p>
            <a:pPr algn="ctr"/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Medical Report Summarisation Assistant | Team 01</a:t>
            </a:r>
          </a:p>
        </p:txBody>
      </p:sp>
    </p:spTree>
    <p:extLst>
      <p:ext uri="{BB962C8B-B14F-4D97-AF65-F5344CB8AC3E}">
        <p14:creationId xmlns:p14="http://schemas.microsoft.com/office/powerpoint/2010/main" val="149709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925</Words>
  <Application>Microsoft Office PowerPoint</Application>
  <PresentationFormat>Widescreen</PresentationFormat>
  <Paragraphs>122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denish lashkari</dc:creator>
  <cp:lastModifiedBy>Denish Lashkari</cp:lastModifiedBy>
  <cp:revision>8</cp:revision>
  <dcterms:created xsi:type="dcterms:W3CDTF">2026-10-04T08:25:55Z</dcterms:created>
  <dcterms:modified xsi:type="dcterms:W3CDTF">2026-10-04T12:28:39Z</dcterms:modified>
</cp:coreProperties>
</file>